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474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1F5F9"/>
                </a:solidFill>
                <a:latin typeface="Arial"/>
              </a:defRPr>
            </a:pPr>
            <a:r>
              <a:t>Pakistan Petroleum Market &amp; Sales Analysis</a:t>
            </a:r>
          </a:p>
          <a:p>
            <a:pPr>
              <a:spcAft>
                <a:spcPts val="50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A Data-Driven Study on Operational Profitability, Outlier Treatment, and Price-Profit Elasticity using Pandas</a:t>
            </a:r>
          </a:p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Prepared by: Zaid Awan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Professional Data Analyst | Petroleum Analytics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Professional Working &amp; 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PROFESSIONAL PROFILE (ZAID AWAN)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Advanced Pandas Specialist: </a:t>
            </a:r>
            <a:r>
              <a:rPr sz="1300" b="0">
                <a:solidFill>
                  <a:srgbClr val="475569"/>
                </a:solidFill>
                <a:latin typeface="Arial"/>
              </a:rPr>
              <a:t>Expertise in multi-source data extraction, high-frequency transactional data cleaning, and database mapping.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Scientific Visualization: </a:t>
            </a:r>
            <a:r>
              <a:rPr sz="1300" b="0">
                <a:solidFill>
                  <a:srgbClr val="475569"/>
                </a:solidFill>
                <a:latin typeface="Arial"/>
              </a:rPr>
              <a:t>Specialized in using Matplotlib, Seaborn, and Custom Dual-Axis layouts to render business indicators.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Financial Modelling: </a:t>
            </a:r>
            <a:r>
              <a:rPr sz="1300" b="0">
                <a:solidFill>
                  <a:srgbClr val="475569"/>
                </a:solidFill>
                <a:latin typeface="Arial"/>
              </a:rPr>
              <a:t>Proven capability in structured margin tracking, financial imputation of pricing outliers, and regional profit distribution models.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Business-Driven Focus: </a:t>
            </a:r>
            <a:r>
              <a:rPr sz="1300" b="0">
                <a:solidFill>
                  <a:srgbClr val="475569"/>
                </a:solidFill>
                <a:latin typeface="Arial"/>
              </a:rPr>
              <a:t>Translates messy, unstructured retail logs into boardroom-ready strategic insights that maximize operational margins.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6792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PROJECT EXECUTIVE SUMMARY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The Business Context: </a:t>
            </a:r>
            <a:r>
              <a:rPr sz="1300" b="0">
                <a:solidFill>
                  <a:srgbClr val="475569"/>
                </a:solidFill>
                <a:latin typeface="Arial"/>
              </a:rPr>
              <a:t>Pakistan petroleum retail operates in a highly volatile pricing environment. This study establishes operational and financial clarity.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Dataset Scale: </a:t>
            </a:r>
            <a:r>
              <a:rPr sz="1300" b="0">
                <a:solidFill>
                  <a:srgbClr val="475569"/>
                </a:solidFill>
                <a:latin typeface="Arial"/>
              </a:rPr>
              <a:t>Engineered and processed 5,068 transaction logs spanning 24 months (Jan 2025 - Dec 2026) across 9 districts.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Standardized Margin: </a:t>
            </a:r>
            <a:r>
              <a:rPr sz="1300" b="0">
                <a:solidFill>
                  <a:srgbClr val="475569"/>
                </a:solidFill>
                <a:latin typeface="Arial"/>
              </a:rPr>
              <a:t>Applied an industry-standard 8.00% profit margin model to assess localized profitability and dynamic station performance.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Macro Results: </a:t>
            </a:r>
            <a:r>
              <a:rPr sz="1300" b="0">
                <a:solidFill>
                  <a:srgbClr val="475569"/>
                </a:solidFill>
                <a:latin typeface="Arial"/>
              </a:rPr>
              <a:t>Revealed a national retail scale of PKR 953,258,275.65 in Gross Revenue, yielding PKR 76,260,662.45 in Net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Pandas Preprocessing &amp; Integrity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CLEAN &amp; STANDARDIZE LOGS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Duplicate Scrubbing: </a:t>
            </a:r>
            <a:r>
              <a:rPr sz="1300" b="0">
                <a:solidFill>
                  <a:srgbClr val="475569"/>
                </a:solidFill>
                <a:latin typeface="Arial"/>
              </a:rPr>
              <a:t>Identified and removed 68 redundant records based on unique Transaction_ID subsets to prevent financial double-counting.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Date Standardization: </a:t>
            </a:r>
            <a:r>
              <a:rPr sz="1300" b="0">
                <a:solidFill>
                  <a:srgbClr val="475569"/>
                </a:solidFill>
                <a:latin typeface="Arial"/>
              </a:rPr>
              <a:t>Standardized unstructured and mixed-format dates into pandas datetime index, dropping unparseable entries.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Messy Text Mapping: </a:t>
            </a:r>
            <a:r>
              <a:rPr sz="1300" b="0">
                <a:solidFill>
                  <a:srgbClr val="475569"/>
                </a:solidFill>
                <a:latin typeface="Arial"/>
              </a:rPr>
              <a:t>Cleaned loose whitespace and normalized payment methods. Consolidated EasyPaisa &amp; JazzCash into a standard 'Mobile Wallet' category.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Customer Segments: </a:t>
            </a:r>
            <a:r>
              <a:rPr sz="1300" b="0">
                <a:solidFill>
                  <a:srgbClr val="475569"/>
                </a:solidFill>
                <a:latin typeface="Arial"/>
              </a:rPr>
              <a:t>Standardized Customer Type fields into proper capitalized formats (Regular, Commercial, Corporate) and mapped nulls to 'Unknown'.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6792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ADVANCED IMPUTATION &amp; OUTLIERS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Price Boundaries: </a:t>
            </a:r>
            <a:r>
              <a:rPr sz="1300" b="0">
                <a:solidFill>
                  <a:srgbClr val="475569"/>
                </a:solidFill>
                <a:latin typeface="Arial"/>
              </a:rPr>
              <a:t>Recognized realistic retail petrol bounds between 200 and 350 PKR/Liter. Tagged any outlier outside this range as corrupt.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Smart Fuel Imputation: </a:t>
            </a:r>
            <a:r>
              <a:rPr sz="1300" b="0">
                <a:solidFill>
                  <a:srgbClr val="475569"/>
                </a:solidFill>
                <a:latin typeface="Arial"/>
              </a:rPr>
              <a:t>Imputed corrupt price outliers dynamically using the median price of that specific Fuel Type: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Hi-Octane / Diesel Medians: </a:t>
            </a:r>
            <a:r>
              <a:rPr sz="1300" b="0">
                <a:solidFill>
                  <a:srgbClr val="475569"/>
                </a:solidFill>
                <a:latin typeface="Arial"/>
              </a:rPr>
              <a:t>Hi-Octane: 312.32 PKR | High Speed Diesel: 287.77 PKR | Super: 274.54 PKR | CNG: 210.30 PKR.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Volume Rectification: </a:t>
            </a:r>
            <a:r>
              <a:rPr sz="1300" b="0">
                <a:solidFill>
                  <a:srgbClr val="475569"/>
                </a:solidFill>
                <a:latin typeface="Arial"/>
              </a:rPr>
              <a:t>Imputed missing and null volumes, and corrected negative volumes (&lt; 0) using the calculated median volume sold of 86 Liters.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Regional Analysis: District &amp; City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DISTRICT FINANCIAL SUMMARY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The Karachi &amp; Lahore Hubs: </a:t>
            </a:r>
            <a:r>
              <a:rPr sz="1300" b="0">
                <a:solidFill>
                  <a:srgbClr val="475569"/>
                </a:solidFill>
                <a:latin typeface="Arial"/>
              </a:rPr>
              <a:t>Karachi leads nationally with PKR 9.89M in profit, followed closely by Lahore with PKR 9.71M, making up 26% of national profits.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Secondary Strongholds: </a:t>
            </a:r>
            <a:r>
              <a:rPr sz="1300" b="0">
                <a:solidFill>
                  <a:srgbClr val="475569"/>
                </a:solidFill>
                <a:latin typeface="Arial"/>
              </a:rPr>
              <a:t>Rawalpindi (PKR 9.26M) and Islamabad (PKR 9.11M) represent high-yield regional markets with stable demand.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Faisalabad Underperformance: </a:t>
            </a:r>
            <a:r>
              <a:rPr sz="1300" b="0">
                <a:solidFill>
                  <a:srgbClr val="475569"/>
                </a:solidFill>
                <a:latin typeface="Arial"/>
              </a:rPr>
              <a:t>Faisalabad generated the lowest operational profit (PKR 5.89M), presenting a critical market turnaround opportunity.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Balanced Network Grid: </a:t>
            </a:r>
            <a:r>
              <a:rPr sz="1300" b="0">
                <a:solidFill>
                  <a:srgbClr val="475569"/>
                </a:solidFill>
                <a:latin typeface="Arial"/>
              </a:rPr>
              <a:t>Each of the 9 cities features exactly 25 active stations, providing a statistically sound and balanced comparative dataset.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Operational Takeaway: </a:t>
            </a:r>
            <a:r>
              <a:rPr sz="1300" b="0">
                <a:solidFill>
                  <a:srgbClr val="475569"/>
                </a:solidFill>
                <a:latin typeface="Arial"/>
              </a:rPr>
              <a:t>Concentrating high-octane logistics on Karachi/Lahore and investigating Faisalabad's low margin will enhance overall profitability.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6792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CITY PROFIT DISTRIBUTION</a:t>
            </a:r>
          </a:p>
        </p:txBody>
      </p:sp>
      <p:pic>
        <p:nvPicPr>
          <p:cNvPr id="8" name="Picture 7" descr="plot_city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874520"/>
            <a:ext cx="49377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Chronological Trends &amp; Operational Profitability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MONTH-BY-MONTH NET PROFIT TREND</a:t>
            </a:r>
          </a:p>
        </p:txBody>
      </p:sp>
      <p:pic>
        <p:nvPicPr>
          <p:cNvPr id="6" name="Picture 5" descr="plot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4937760" cy="4160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36792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CHRONOLOGICAL HIGHLIGHTS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Surge &amp; Peak Months: </a:t>
            </a:r>
            <a:r>
              <a:rPr sz="1300" b="0">
                <a:solidFill>
                  <a:srgbClr val="475569"/>
                </a:solidFill>
                <a:latin typeface="Arial"/>
              </a:rPr>
              <a:t>Net profit peaked in June 2025 (PKR 5.36M) and March 2025 (PKR 5.29M), highlighting strong seasonal demand cycles.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Baseline Stabilization: </a:t>
            </a:r>
            <a:r>
              <a:rPr sz="1300" b="0">
                <a:solidFill>
                  <a:srgbClr val="475569"/>
                </a:solidFill>
                <a:latin typeface="Arial"/>
              </a:rPr>
              <a:t>Profits stabilized tightly in the range of PKR 3.5M - 4.5M throughout most of 2025 and mid 2026.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Dataset Footprint: </a:t>
            </a:r>
            <a:r>
              <a:rPr sz="1300" b="0">
                <a:solidFill>
                  <a:srgbClr val="475569"/>
                </a:solidFill>
                <a:latin typeface="Arial"/>
              </a:rPr>
              <a:t>The monthly operational trend indicates a highly healthy and resilient run rate during normal operational months.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Tail-End Observations: </a:t>
            </a:r>
            <a:r>
              <a:rPr sz="1300" b="0">
                <a:solidFill>
                  <a:srgbClr val="475569"/>
                </a:solidFill>
                <a:latin typeface="Arial"/>
              </a:rPr>
              <a:t>Low volume in late 2026 is due to a taper in the practice transaction log, which the Pandas code processed successfully without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Petroleum Price Volatility vs. Profitability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PETROL PRICE VS. NET PROFIT OVERLAY</a:t>
            </a:r>
          </a:p>
        </p:txBody>
      </p:sp>
      <p:pic>
        <p:nvPicPr>
          <p:cNvPr id="6" name="Picture 5" descr="plot_dual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4937760" cy="4160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36792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ECONOMIC &amp; PRICING ELASTICITY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Dual Axis Integration: </a:t>
            </a:r>
            <a:r>
              <a:rPr sz="1300" b="0">
                <a:solidFill>
                  <a:srgbClr val="475569"/>
                </a:solidFill>
                <a:latin typeface="Arial"/>
              </a:rPr>
              <a:t>Overlaying the Average Petrol Price (PKR/Liter) with Total Monthly Profit allows us to study operational elasticity.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Price-Revenue Correlation: </a:t>
            </a:r>
            <a:r>
              <a:rPr sz="1300" b="0">
                <a:solidFill>
                  <a:srgbClr val="475569"/>
                </a:solidFill>
                <a:latin typeface="Arial"/>
              </a:rPr>
              <a:t>Average prices fluctuated between 260 PKR and 276 PKR. Retail profit volumes are closely correlated with absolute sales volumes rather than price spikes.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Margin Buffer Integrity: </a:t>
            </a:r>
            <a:r>
              <a:rPr sz="1300" b="0">
                <a:solidFill>
                  <a:srgbClr val="475569"/>
                </a:solidFill>
                <a:latin typeface="Arial"/>
              </a:rPr>
              <a:t>Maintaining a standardized 8% margin model allows local stations to absorb rising wholesale costs if localized demand remains stable.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Operational Defense: </a:t>
            </a:r>
            <a:r>
              <a:rPr sz="1300" b="0">
                <a:solidFill>
                  <a:srgbClr val="475569"/>
                </a:solidFill>
                <a:latin typeface="Arial"/>
              </a:rPr>
              <a:t>Using the Fuel Type Medians established by our pandas pipeline protects station operators from retail price-gouging and erratic volatility.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Strategic Action Plan &amp;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COMMERCIAL &amp; REGIONAL STRATEGY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Double Down on Karachi/Lahore: </a:t>
            </a:r>
            <a:r>
              <a:rPr sz="1300" b="0">
                <a:solidFill>
                  <a:srgbClr val="475569"/>
                </a:solidFill>
                <a:latin typeface="Arial"/>
              </a:rPr>
              <a:t>Focus capital expenditure on high-performing coastal and industrial hubs (Karachi/Lahore) which generate the highest operational margins.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Faisalabad Audit: </a:t>
            </a:r>
            <a:r>
              <a:rPr sz="1300" b="0">
                <a:solidFill>
                  <a:srgbClr val="475569"/>
                </a:solidFill>
                <a:latin typeface="Arial"/>
              </a:rPr>
              <a:t>Launch an immediate regional audit in Faisalabad to identify local operational bottlenecks causing profits to lag by 40% behind Lahore.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Dynamic Pricing Strategy: </a:t>
            </a:r>
            <a:r>
              <a:rPr sz="1300" b="0">
                <a:solidFill>
                  <a:srgbClr val="475569"/>
                </a:solidFill>
                <a:latin typeface="Arial"/>
              </a:rPr>
              <a:t>Integrate live local fuel indices with our established Fuel Type Medians to implement an automated dynamic retail pricing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6792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TECHNOLOGICAL ACTION ITEMS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Digital Payment Campaigns: </a:t>
            </a:r>
            <a:r>
              <a:rPr sz="1300" b="0">
                <a:solidFill>
                  <a:srgbClr val="475569"/>
                </a:solidFill>
                <a:latin typeface="Arial"/>
              </a:rPr>
              <a:t>Capitalize on mobile wallets (EasyPaisa, JazzCash). Set up promotional cashback partnerships to attract high-frequency retail volumes.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Live Pandas Data Pipeline: </a:t>
            </a:r>
            <a:r>
              <a:rPr sz="1300" b="0">
                <a:solidFill>
                  <a:srgbClr val="475569"/>
                </a:solidFill>
                <a:latin typeface="Arial"/>
              </a:rPr>
              <a:t>Convert the offline pandas preprocessing workflow into a real-time BI dashboard that flags transactions with outlier prices or volumes.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•  Summary of Work: </a:t>
            </a:r>
            <a:r>
              <a:rPr sz="1300" b="0">
                <a:solidFill>
                  <a:srgbClr val="475569"/>
                </a:solidFill>
                <a:latin typeface="Arial"/>
              </a:rPr>
              <a:t>The analysis successfully transformed 5,000+ unstructured records into 4 core charts and actionable, high-yield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